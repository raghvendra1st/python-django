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18288000" cy="10287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60B4BF1E-5029-4972-8412-7BB179996C00}">
          <p14:sldIdLst>
            <p14:sldId id="256"/>
          </p14:sldIdLst>
        </p14:section>
        <p14:section name="Untitled Section" id="{271E1244-4A51-4B5E-8B10-61A6DD01FCF9}">
          <p14:sldIdLst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254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8F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943849" cy="822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41613" y="97821"/>
            <a:ext cx="10759440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2601" y="583164"/>
            <a:ext cx="7086600" cy="89799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533524" cy="8096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76084" y="0"/>
            <a:ext cx="1609724" cy="18097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50520" y="2476501"/>
            <a:ext cx="7806781" cy="79957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100" spc="-195" dirty="0"/>
              <a:t>InnVedX</a:t>
            </a:r>
            <a:r>
              <a:rPr sz="5100" spc="-125" dirty="0"/>
              <a:t> </a:t>
            </a:r>
            <a:r>
              <a:rPr sz="5100" spc="-20" dirty="0"/>
              <a:t>Code</a:t>
            </a:r>
            <a:r>
              <a:rPr sz="5100" spc="-265" dirty="0"/>
              <a:t> </a:t>
            </a:r>
            <a:r>
              <a:rPr sz="5100" spc="-20" dirty="0"/>
              <a:t>Hackathon</a:t>
            </a:r>
            <a:endParaRPr sz="5100" dirty="0"/>
          </a:p>
        </p:txBody>
      </p:sp>
      <p:sp>
        <p:nvSpPr>
          <p:cNvPr id="6" name="object 6"/>
          <p:cNvSpPr txBox="1"/>
          <p:nvPr/>
        </p:nvSpPr>
        <p:spPr>
          <a:xfrm>
            <a:off x="1337218" y="3543300"/>
            <a:ext cx="7806781" cy="4044312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3550" b="1" spc="-120" dirty="0">
                <a:latin typeface="Times New Roman"/>
                <a:cs typeface="Times New Roman"/>
              </a:rPr>
              <a:t>Team</a:t>
            </a:r>
            <a:r>
              <a:rPr sz="3550" b="1" spc="-105" dirty="0">
                <a:latin typeface="Times New Roman"/>
                <a:cs typeface="Times New Roman"/>
              </a:rPr>
              <a:t> </a:t>
            </a:r>
            <a:r>
              <a:rPr sz="3550" b="1" spc="-25" dirty="0">
                <a:latin typeface="Times New Roman"/>
                <a:cs typeface="Times New Roman"/>
              </a:rPr>
              <a:t>Lead</a:t>
            </a:r>
            <a:r>
              <a:rPr sz="3550" b="1" spc="-165" dirty="0">
                <a:latin typeface="Times New Roman"/>
                <a:cs typeface="Times New Roman"/>
              </a:rPr>
              <a:t> </a:t>
            </a:r>
            <a:r>
              <a:rPr sz="3550" b="1" spc="-10" dirty="0">
                <a:latin typeface="Times New Roman"/>
                <a:cs typeface="Times New Roman"/>
              </a:rPr>
              <a:t>Name-</a:t>
            </a:r>
            <a:r>
              <a:rPr lang="en-IN" sz="3550" b="1" spc="-10" dirty="0">
                <a:latin typeface="Times New Roman"/>
                <a:cs typeface="Times New Roman"/>
              </a:rPr>
              <a:t>Rajat Yadav</a:t>
            </a:r>
            <a:endParaRPr sz="3550" dirty="0">
              <a:latin typeface="Times New Roman"/>
              <a:cs typeface="Times New Roman"/>
            </a:endParaRPr>
          </a:p>
          <a:p>
            <a:pPr marL="66040">
              <a:lnSpc>
                <a:spcPct val="100000"/>
              </a:lnSpc>
              <a:spcBef>
                <a:spcPts val="1000"/>
              </a:spcBef>
            </a:pPr>
            <a:r>
              <a:rPr sz="3600" b="1" spc="-70" dirty="0">
                <a:latin typeface="Times New Roman"/>
                <a:cs typeface="Times New Roman"/>
              </a:rPr>
              <a:t>Members</a:t>
            </a:r>
            <a:r>
              <a:rPr sz="3600" b="1" spc="-114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name-</a:t>
            </a:r>
            <a:r>
              <a:rPr lang="en-IN" sz="3200" b="1" spc="-10" dirty="0">
                <a:latin typeface="Times New Roman"/>
                <a:cs typeface="Times New Roman"/>
              </a:rPr>
              <a:t>Raghvendra Pandey, Raghvendra Kumar</a:t>
            </a:r>
            <a:endParaRPr sz="3200" dirty="0">
              <a:latin typeface="Times New Roman"/>
              <a:cs typeface="Times New Roman"/>
            </a:endParaRPr>
          </a:p>
          <a:p>
            <a:pPr marL="115570" marR="334010">
              <a:lnSpc>
                <a:spcPct val="126099"/>
              </a:lnSpc>
              <a:spcBef>
                <a:spcPts val="305"/>
              </a:spcBef>
            </a:pPr>
            <a:r>
              <a:rPr sz="2800" b="1" spc="-60" dirty="0">
                <a:latin typeface="Times New Roman"/>
                <a:cs typeface="Times New Roman"/>
              </a:rPr>
              <a:t>Problem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30" dirty="0">
                <a:latin typeface="Times New Roman"/>
                <a:cs typeface="Times New Roman"/>
              </a:rPr>
              <a:t>statements- </a:t>
            </a:r>
            <a:r>
              <a:rPr lang="en-US" sz="2800" b="1" dirty="0"/>
              <a:t>Bhasha-Lipi AI</a:t>
            </a:r>
            <a:r>
              <a:rPr lang="en-US" sz="2800" dirty="0"/>
              <a:t>: Overcoming the Barrier of Informational Exclusion.</a:t>
            </a:r>
            <a:endParaRPr lang="en-IN" sz="2800" b="1" spc="-30" dirty="0">
              <a:latin typeface="Times New Roman"/>
              <a:cs typeface="Times New Roman"/>
            </a:endParaRPr>
          </a:p>
          <a:p>
            <a:pPr marL="115570" marR="334010">
              <a:lnSpc>
                <a:spcPct val="126099"/>
              </a:lnSpc>
              <a:spcBef>
                <a:spcPts val="305"/>
              </a:spcBef>
            </a:pPr>
            <a:r>
              <a:rPr sz="2800" b="1" spc="-10" dirty="0">
                <a:latin typeface="Times New Roman"/>
                <a:cs typeface="Times New Roman"/>
              </a:rPr>
              <a:t>Track-</a:t>
            </a:r>
            <a:r>
              <a:rPr lang="en-US" sz="2800" b="1" spc="-10" dirty="0">
                <a:latin typeface="Times New Roman"/>
                <a:cs typeface="Times New Roman"/>
              </a:rPr>
              <a:t>Build for Bharat – Open Innovation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6D8FFD-70AA-25D2-D925-F29119BE0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67647"/>
            <a:ext cx="6400800" cy="88096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7460" y="665950"/>
            <a:ext cx="7920538" cy="96210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0" y="790574"/>
            <a:ext cx="16916400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8525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PROBLEM</a:t>
            </a:r>
            <a:r>
              <a:rPr dirty="0"/>
              <a:t> </a:t>
            </a:r>
            <a:r>
              <a:rPr spc="-350" dirty="0"/>
              <a:t>&amp;</a:t>
            </a:r>
            <a:r>
              <a:rPr spc="5" dirty="0"/>
              <a:t> </a:t>
            </a:r>
            <a:r>
              <a:rPr spc="90" dirty="0"/>
              <a:t>SOLUTION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9EF7F06-F8C5-2652-4628-AFC1E3375AB1}"/>
              </a:ext>
            </a:extLst>
          </p:cNvPr>
          <p:cNvSpPr>
            <a:spLocks noGrp="1" noChangeArrowheads="1"/>
          </p:cNvSpPr>
          <p:nvPr>
            <p:ph type="subTitle" idx="4"/>
          </p:nvPr>
        </p:nvSpPr>
        <p:spPr bwMode="auto">
          <a:xfrm>
            <a:off x="457200" y="2032405"/>
            <a:ext cx="16687800" cy="7140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Crisis of Information Asymmetry: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Legal Vulnerability: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Citizens sign documents they cannot read, leading to exploitation in land and civil disputes.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 Hazards: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Medication non-compliance in rural clusters due to English-only dosage instructions.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Middleman Trap: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costs and privacy risks associated with hiring physical translators for basic government benefits.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IN" sz="3250" b="1" dirty="0"/>
              <a:t>The Bhasha-Lipi Intervention:</a:t>
            </a:r>
            <a:endParaRPr lang="en-IN" sz="325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Context-Aware NMT:</a:t>
            </a:r>
            <a:r>
              <a:rPr lang="en-IN" sz="3200" dirty="0"/>
              <a:t> Unlike generic translators, our pipeline is fine-tuned for </a:t>
            </a:r>
            <a:r>
              <a:rPr lang="en-IN" sz="3200" b="1" dirty="0"/>
              <a:t>Administrative Jargon</a:t>
            </a:r>
            <a:r>
              <a:rPr lang="en-IN" sz="3200" dirty="0"/>
              <a:t> and </a:t>
            </a:r>
            <a:r>
              <a:rPr lang="en-IN" sz="3200" b="1" dirty="0"/>
              <a:t>Legal Lexicons</a:t>
            </a:r>
            <a:r>
              <a:rPr lang="en-IN" sz="32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Cognitive Accessibility:</a:t>
            </a:r>
            <a:r>
              <a:rPr lang="en-IN" sz="3200" dirty="0"/>
              <a:t> It doesn’t just translate; it digitizes and simplifies, reclaiming regional languages as valid mediums for scientific and legal data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533524" cy="7905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76084" y="0"/>
            <a:ext cx="16097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9471" y="837976"/>
            <a:ext cx="7708528" cy="94490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</a:t>
            </a:r>
            <a:r>
              <a:rPr spc="-55" dirty="0"/>
              <a:t> </a:t>
            </a:r>
            <a:r>
              <a:rPr spc="-100" dirty="0"/>
              <a:t>STACK</a:t>
            </a:r>
            <a:r>
              <a:rPr spc="-20" dirty="0"/>
              <a:t> </a:t>
            </a:r>
            <a:r>
              <a:rPr spc="-350" dirty="0"/>
              <a:t>&amp;</a:t>
            </a:r>
            <a:r>
              <a:rPr spc="-5" dirty="0"/>
              <a:t> </a:t>
            </a:r>
            <a:r>
              <a:rPr spc="80" dirty="0"/>
              <a:t>METHODOLOGY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B0C20F-3884-1498-FC62-975EA78D4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09700"/>
            <a:ext cx="17754600" cy="8779479"/>
          </a:xfrm>
        </p:spPr>
        <p:txBody>
          <a:bodyPr/>
          <a:lstStyle/>
          <a:p>
            <a:r>
              <a:rPr lang="en-IN" sz="3200" b="1" dirty="0"/>
              <a:t>Core Development Stack:</a:t>
            </a:r>
            <a:endParaRPr lang="en-IN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b="1" dirty="0"/>
              <a:t>Backend Framework:</a:t>
            </a:r>
            <a:r>
              <a:rPr lang="en-IN" sz="2800" dirty="0"/>
              <a:t> </a:t>
            </a:r>
            <a:r>
              <a:rPr lang="en-IN" sz="2800" b="1" dirty="0"/>
              <a:t>Django</a:t>
            </a:r>
            <a:endParaRPr lang="en-IN" sz="28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500" dirty="0"/>
              <a:t>Selected for its </a:t>
            </a:r>
            <a:r>
              <a:rPr lang="en-IN" sz="2500" b="1" dirty="0"/>
              <a:t>MVT (Model-View-Template)</a:t>
            </a:r>
            <a:r>
              <a:rPr lang="en-IN" sz="2500" dirty="0"/>
              <a:t> architecture to ensure robust data persistence and built-in security features for handling user documents.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b="1" dirty="0"/>
              <a:t>AI Translation Engine:</a:t>
            </a:r>
            <a:r>
              <a:rPr lang="en-IN" sz="2800" dirty="0"/>
              <a:t> </a:t>
            </a:r>
            <a:r>
              <a:rPr lang="en-IN" sz="2800" b="1" dirty="0"/>
              <a:t>Bhashini ULCA API</a:t>
            </a:r>
            <a:endParaRPr lang="en-IN" sz="28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500" dirty="0"/>
              <a:t>The primary engine for </a:t>
            </a:r>
            <a:r>
              <a:rPr lang="en-IN" sz="2500" b="1" dirty="0"/>
              <a:t>Neural Machine Translation (NMT)</a:t>
            </a:r>
            <a:r>
              <a:rPr lang="en-IN" sz="2500" dirty="0"/>
              <a:t>, specifically tuned for the linguistic nuances of 22+ Indian languages.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b="1" dirty="0"/>
              <a:t>Optical Character Recognition (OCR):</a:t>
            </a:r>
            <a:r>
              <a:rPr lang="en-IN" sz="2800" dirty="0"/>
              <a:t> </a:t>
            </a:r>
            <a:r>
              <a:rPr lang="en-IN" sz="2800" b="1" dirty="0"/>
              <a:t>Tesseract / Google Vision</a:t>
            </a:r>
            <a:endParaRPr lang="en-IN" sz="28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500" dirty="0"/>
              <a:t>High-precision engines used for converting physical document images into digital text strings.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sz="2800" b="1" dirty="0"/>
              <a:t>Frontend UI:</a:t>
            </a:r>
            <a:r>
              <a:rPr lang="en-IN" sz="2800" dirty="0"/>
              <a:t> </a:t>
            </a:r>
            <a:r>
              <a:rPr lang="en-IN" sz="2800" b="1" dirty="0"/>
              <a:t>Bootstrap 5</a:t>
            </a:r>
            <a:endParaRPr lang="en-IN" sz="28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500" dirty="0"/>
              <a:t>A mobile-first, responsive framework designed to provide a seamless experience for users on low-end smartphones.</a:t>
            </a:r>
          </a:p>
          <a:p>
            <a:r>
              <a:rPr lang="en-IN" sz="3200" b="1" dirty="0"/>
              <a:t>Technical Methodology:</a:t>
            </a:r>
            <a:endParaRPr lang="en-IN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Image Pre-Processing (OpenCV):</a:t>
            </a:r>
            <a:endParaRPr lang="en-IN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500" dirty="0"/>
              <a:t>Utilizing </a:t>
            </a:r>
            <a:r>
              <a:rPr lang="en-IN" sz="2500" b="1" dirty="0"/>
              <a:t>OpenCV</a:t>
            </a:r>
            <a:r>
              <a:rPr lang="en-IN" sz="2500" dirty="0"/>
              <a:t> layers for de-skewing, noise reduction, and contrast enhancement to ensure high OCR accuracy from mobile-captured photos.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Linguistic Extraction:</a:t>
            </a:r>
            <a:endParaRPr lang="en-IN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500" dirty="0"/>
              <a:t>High-fidelity OCR pipelines trained to recognize complex Indian scripts, including Devanagari, Tamil, and Telugu.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Neural Translation Pipeline:</a:t>
            </a:r>
            <a:endParaRPr lang="en-IN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500" dirty="0"/>
              <a:t>Text is processed via </a:t>
            </a:r>
            <a:r>
              <a:rPr lang="en-IN" sz="2500" b="1" dirty="0" err="1"/>
              <a:t>Lekhaanuvaad</a:t>
            </a:r>
            <a:r>
              <a:rPr lang="en-IN" sz="2500" dirty="0"/>
              <a:t> models to ensure the translation maintains the proper administrative and cultural context.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Database &amp; Audit Trail:</a:t>
            </a:r>
            <a:endParaRPr lang="en-IN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500" b="1" dirty="0"/>
              <a:t>Django Models</a:t>
            </a:r>
            <a:r>
              <a:rPr lang="en-IN" sz="2500" dirty="0"/>
              <a:t> manage the storage of translation history, allowing for user-access retrieval and system audit logs.</a:t>
            </a:r>
          </a:p>
          <a:p>
            <a:pPr lvl="1"/>
            <a:endParaRPr lang="en-IN" dirty="0"/>
          </a:p>
          <a:p>
            <a:endParaRPr lang="en-IN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533524" cy="8191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76084" y="0"/>
            <a:ext cx="1609724" cy="18097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424187"/>
            <a:ext cx="17259299" cy="986281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4845">
              <a:lnSpc>
                <a:spcPct val="100000"/>
              </a:lnSpc>
              <a:spcBef>
                <a:spcPts val="100"/>
              </a:spcBef>
            </a:pPr>
            <a:r>
              <a:rPr spc="240" dirty="0"/>
              <a:t>USP</a:t>
            </a:r>
            <a:r>
              <a:rPr spc="-175" dirty="0"/>
              <a:t> </a:t>
            </a:r>
            <a:r>
              <a:rPr spc="-350" dirty="0"/>
              <a:t>&amp;</a:t>
            </a:r>
            <a:r>
              <a:rPr spc="-5" dirty="0"/>
              <a:t> </a:t>
            </a:r>
            <a:r>
              <a:rPr spc="-35" dirty="0"/>
              <a:t>KEY</a:t>
            </a:r>
            <a:r>
              <a:rPr spc="-90" dirty="0"/>
              <a:t> </a:t>
            </a:r>
            <a:r>
              <a:rPr spc="-10" dirty="0"/>
              <a:t>FEATURE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7CF6F4E-1E04-1315-3128-D4E87D76D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1" y="1145514"/>
            <a:ext cx="16725899" cy="8879354"/>
          </a:xfrm>
        </p:spPr>
        <p:txBody>
          <a:bodyPr/>
          <a:lstStyle/>
          <a:p>
            <a:r>
              <a:rPr lang="en-US" sz="2800" b="1" dirty="0"/>
              <a:t>Strategic USP (Unique Selling Proposition)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Linguistic Data Sovereignty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Powered by the </a:t>
            </a:r>
            <a:r>
              <a:rPr lang="en-US" sz="2800" b="1" dirty="0"/>
              <a:t>Government of India’s Bhashini Ecosystem</a:t>
            </a:r>
            <a:r>
              <a:rPr lang="en-US" sz="28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Ensures 100% </a:t>
            </a:r>
            <a:r>
              <a:rPr lang="en-US" sz="2800" b="1" dirty="0"/>
              <a:t>Data Privacy and National Security</a:t>
            </a:r>
            <a:r>
              <a:rPr lang="en-US" sz="2800" dirty="0"/>
              <a:t> by processing sensitive documents within sovereign digital borders.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Audio-Visual Inclusivity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Integrated </a:t>
            </a:r>
            <a:r>
              <a:rPr lang="en-US" sz="2800" b="1" dirty="0"/>
              <a:t>Neural Text-to-Speech (TTS)</a:t>
            </a:r>
            <a:r>
              <a:rPr lang="en-US" sz="2800" dirty="0"/>
              <a:t> engine.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Empowers the </a:t>
            </a:r>
            <a:r>
              <a:rPr lang="en-US" sz="2800" b="1" dirty="0"/>
              <a:t>25% of the population</a:t>
            </a:r>
            <a:r>
              <a:rPr lang="en-US" sz="2800" dirty="0"/>
              <a:t> with lower literacy rates by allowing them to </a:t>
            </a:r>
            <a:r>
              <a:rPr lang="en-US" sz="2800" i="1" dirty="0"/>
              <a:t>hear</a:t>
            </a:r>
            <a:r>
              <a:rPr lang="en-US" sz="2800" dirty="0"/>
              <a:t> translations in their native dialect.</a:t>
            </a:r>
          </a:p>
          <a:p>
            <a:r>
              <a:rPr lang="en-US" sz="2800" b="1" dirty="0"/>
              <a:t>Key Technical Features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Intelligent Layout Preservation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Maintains the original document structure (stamps, signatures, and headers).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Enables seamless </a:t>
            </a:r>
            <a:r>
              <a:rPr lang="en-US" sz="2800" b="1" dirty="0"/>
              <a:t>cross-referencing</a:t>
            </a:r>
            <a:r>
              <a:rPr lang="en-US" sz="2800" dirty="0"/>
              <a:t> between the translated text and the physical original.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Offline-First Architecture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Local caching of translations for </a:t>
            </a:r>
            <a:r>
              <a:rPr lang="en-US" sz="2800" b="1" dirty="0"/>
              <a:t>low-connectivity rural zones</a:t>
            </a:r>
            <a:r>
              <a:rPr lang="en-US" sz="2800" dirty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Ensures reliability in "Dark Zones" where 4G/5G penetration is unstable.</a:t>
            </a:r>
          </a:p>
          <a:p>
            <a:endParaRPr lang="en-IN" dirty="0"/>
          </a:p>
          <a:p>
            <a:endParaRPr lang="en-IN" sz="2500" dirty="0"/>
          </a:p>
          <a:p>
            <a:r>
              <a:rPr lang="en-IN" sz="2500" dirty="0"/>
              <a:t>                                              Bhasha-Lipi AI bridges the gap between 'Virasat' and 'Vikas' by turning linguistic heritage into a tool for _-           Social  progress. We are moving beyond simple translation to deliver true Socio-Linguistic Justice for every Indian citizen.</a:t>
            </a:r>
          </a:p>
          <a:p>
            <a:r>
              <a:rPr lang="en-IN" dirty="0"/>
              <a:t>                                                                   </a:t>
            </a:r>
          </a:p>
          <a:p>
            <a:r>
              <a:rPr lang="en-IN" dirty="0"/>
              <a:t>                                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0599" y="8324670"/>
            <a:ext cx="218757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b="1" spc="40" dirty="0">
                <a:latin typeface="Times New Roman"/>
                <a:cs typeface="Times New Roman"/>
              </a:rPr>
              <a:t>CONCLUSION-</a:t>
            </a:r>
            <a:endParaRPr sz="23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18286095" cy="1809750"/>
            <a:chOff x="0" y="0"/>
            <a:chExt cx="18286095" cy="18097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533524" cy="8191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76084" y="0"/>
              <a:ext cx="1609724" cy="18097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516</Words>
  <Application>Microsoft Office PowerPoint</Application>
  <PresentationFormat>Custom</PresentationFormat>
  <Paragraphs>54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Courier New</vt:lpstr>
      <vt:lpstr>Times New Roman</vt:lpstr>
      <vt:lpstr>Office Theme</vt:lpstr>
      <vt:lpstr>InnVedX Code Hackathon</vt:lpstr>
      <vt:lpstr>PROBLEM &amp; SOLUTION</vt:lpstr>
      <vt:lpstr>TECH STACK &amp; METHODOLOGY</vt:lpstr>
      <vt:lpstr>USP &amp; KEY FEATURE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page</dc:title>
  <dc:creator>DRX THUNDER</dc:creator>
  <cp:keywords>DAG_Hi7Rhs0,BAGOpzDTIXo,0</cp:keywords>
  <cp:lastModifiedBy>Raghvendra Pandey</cp:lastModifiedBy>
  <cp:revision>1</cp:revision>
  <dcterms:created xsi:type="dcterms:W3CDTF">2026-02-24T15:49:39Z</dcterms:created>
  <dcterms:modified xsi:type="dcterms:W3CDTF">2026-02-24T17:07:54Z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2026-02-23T00:00:00Z</vt:filetime>
  </property>
  <property fmtid="{D5CDD505-2E9C-101B-9397-08002B2CF9AE}" pid="3" name="Creator">
    <vt:lpwstr>Canva</vt:lpwstr>
  </property>
  <property fmtid="{D5CDD505-2E9C-101B-9397-08002B2CF9AE}" pid="4" name="LastSaved">
    <vt:filetime>2026-02-24T00:00:00Z</vt:filetime>
  </property>
  <property fmtid="{D5CDD505-2E9C-101B-9397-08002B2CF9AE}" pid="5" name="Producer">
    <vt:lpwstr>Canva</vt:lpwstr>
  </property>
</Properties>
</file>